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21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88952" cy="73152"/>
          </a:xfrm>
          <a:prstGeom prst="rect">
            <a:avLst/>
          </a:prstGeom>
          <a:solidFill>
            <a:srgbClr val="764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Medical Image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A5B4FC"/>
                </a:solidFill>
              </a:rPr>
              <a:t>End-to-End MLOps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788920"/>
            <a:ext cx="11640312" cy="27432"/>
          </a:xfrm>
          <a:prstGeom prst="rect">
            <a:avLst/>
          </a:prstGeom>
          <a:solidFill>
            <a:srgbClr val="764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7D2FE"/>
                </a:solidFill>
              </a:rPr>
              <a:t>Pneumonia Detection  ·  Brain Tumor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AAA"/>
                </a:solidFill>
              </a:rPr>
              <a:t>DA5402 · April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94760"/>
            <a:ext cx="1463040" cy="384048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822191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5B4FC"/>
                </a:solidFill>
              </a:rPr>
              <a:t>DVC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21408" y="3794760"/>
            <a:ext cx="1463040" cy="384048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21408" y="3822191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5B4FC"/>
                </a:solidFill>
              </a:rPr>
              <a:t>MLflow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85616" y="3794760"/>
            <a:ext cx="1463040" cy="384048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6" y="3822191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5B4FC"/>
                </a:solidFill>
              </a:rPr>
              <a:t>FastAPI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9824" y="3794760"/>
            <a:ext cx="1463040" cy="384048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9824" y="3822191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5B4FC"/>
                </a:solidFill>
              </a:rPr>
              <a:t>Docker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14032" y="3794760"/>
            <a:ext cx="1463040" cy="384048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4032" y="3822191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5B4FC"/>
                </a:solidFill>
              </a:rPr>
              <a:t>Prometheus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3794760"/>
            <a:ext cx="1463040" cy="384048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3822191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5B4FC"/>
                </a:solidFill>
              </a:rPr>
              <a:t>Grafana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42448" y="3794760"/>
            <a:ext cx="1463040" cy="384048"/>
          </a:xfrm>
          <a:prstGeom prst="rect">
            <a:avLst/>
          </a:prstGeom>
          <a:solidFill>
            <a:srgbClr val="2D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42448" y="3822191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5B4FC"/>
                </a:solidFill>
              </a:rPr>
              <a:t>Airflow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5B4FC"/>
                </a:solidFill>
              </a:rPr>
              <a:t>Two clinical AI challenges requiring production-grade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94960" cy="457200"/>
          </a:xfrm>
          <a:prstGeom prst="rect">
            <a:avLst/>
          </a:prstGeom>
          <a:solidFill>
            <a:srgbClr val="365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9047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🫁  Pneumonia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374151"/>
                </a:solidFill>
              </a:rPr>
              <a:t>•  Chest X-ray binary classification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74151"/>
                </a:solidFill>
              </a:rPr>
              <a:t>•  Classes: NORMAL vs PNEUMONIA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74151"/>
                </a:solidFill>
              </a:rPr>
              <a:t>•  5,856 images (Kaggle, CC BY 4.0)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74151"/>
                </a:solidFill>
              </a:rPr>
              <a:t>•  Pediatric patients, Guangzhou Medical Center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74151"/>
                </a:solidFill>
              </a:rPr>
              <a:t>•  Train/Val/Test: 5216 / 16 / 624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74151"/>
                </a:solidFill>
              </a:rPr>
              <a:t>•  Class imbalance: 1:2.9 (NORMAL:PNEUMONIA)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74151"/>
                </a:solidFill>
              </a:rPr>
              <a:t>•  Goal: Automate triage &amp; reduce radiologist 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3949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5394960" cy="457200"/>
          </a:xfrm>
          <a:prstGeom prst="rect">
            <a:avLst/>
          </a:prstGeom>
          <a:solidFill>
            <a:srgbClr val="764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9047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🧠  Brain Tumor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374151"/>
                </a:solidFill>
              </a:rPr>
              <a:t>•  Brain MRI 4-class classification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74151"/>
                </a:solidFill>
              </a:rPr>
              <a:t>•  Classes: glioma / meningioma / notumor / pituitary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74151"/>
                </a:solidFill>
              </a:rPr>
              <a:t>•  7,023 images (Kaggle)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74151"/>
                </a:solidFill>
              </a:rPr>
              <a:t>•  Training: 5,712  |  Testing: 1,311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74151"/>
                </a:solidFill>
              </a:rPr>
              <a:t>•  Near-balanced class distribution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74151"/>
                </a:solidFill>
              </a:rPr>
              <a:t>•  Goal: Early detection to support treatment decisions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374151"/>
                </a:solidFill>
              </a:rPr>
              <a:t>•  Achieves 92.7% test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35508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CA3AF"/>
                </a:solidFill>
              </a:rPr>
              <a:t>⚠  Not for clinical use — research &amp; educational purposes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5B4FC"/>
                </a:solidFill>
              </a:rPr>
              <a:t>7-layer design with strict separation of concerns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2286000" cy="576072"/>
          </a:xfrm>
          <a:prstGeom prst="rect">
            <a:avLst/>
          </a:prstGeom>
          <a:solidFill>
            <a:srgbClr val="365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371600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User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325880"/>
            <a:ext cx="90068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399032"/>
            <a:ext cx="8823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Browser SPA (Nginx :80) — 4-tab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0195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↓ REST /predict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029967"/>
            <a:ext cx="2286000" cy="576072"/>
          </a:xfrm>
          <a:prstGeom prst="rect">
            <a:avLst/>
          </a:prstGeom>
          <a:solidFill>
            <a:srgbClr val="764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2075687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Inference Layer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2029967"/>
            <a:ext cx="90068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2103120"/>
            <a:ext cx="8823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FastAPI :8001 · predict.py · health.py · Prometheus MW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06039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↓ loads .pt at startup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2286000" cy="576072"/>
          </a:xfrm>
          <a:prstGeom prst="rect">
            <a:avLst/>
          </a:prstGeom>
          <a:solidFill>
            <a:srgbClr val="0E7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2779776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 Layer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2734056"/>
            <a:ext cx="90068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2807208"/>
            <a:ext cx="8823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pneumonia_resnet50.pt + brain_resnet50.pt  (baked in Docker image)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3101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↓ logs runs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438144"/>
            <a:ext cx="2286000" cy="576072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3483863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MLOps Layer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3438144"/>
            <a:ext cx="90068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3511296"/>
            <a:ext cx="8823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MLflow (tracking + registry) · DVC (pipeline + versioning) · Git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014215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↓ scrapes /metrics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142232"/>
            <a:ext cx="2286000" cy="5760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4187952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Monitoring Layer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6040" y="4142232"/>
            <a:ext cx="90068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97480" y="4215384"/>
            <a:ext cx="8823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Prometheus :9090 · Grafana :3001 · monitor.py (drift detection)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71830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</a:rPr>
              <a:t>↓ triggered offline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846320"/>
            <a:ext cx="2286000" cy="576072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4892040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Training Layer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06040" y="4846320"/>
            <a:ext cx="90068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97480" y="4919472"/>
            <a:ext cx="8823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train.py · train_brain.py · optimization.py  [offline, not in inference path]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550408"/>
            <a:ext cx="2286000" cy="57607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" y="5596128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Orchestration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40" y="5550408"/>
            <a:ext cx="90068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97480" y="5623560"/>
            <a:ext cx="8823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Airflow :8080 (DAG scheduler) · GitHub Actions (CI/CD on push)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6382512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654C8"/>
                </a:solidFill>
              </a:rPr>
              <a:t>Key: Models baked into Docker image — inference requires zero external dependencies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Engineering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5B4FC"/>
                </a:solidFill>
              </a:rPr>
              <a:t>13-stage DVC pipeline · fully reproducible · MD5-checksummed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2468880" cy="731520"/>
          </a:xfrm>
          <a:prstGeom prst="rect">
            <a:avLst/>
          </a:prstGeom>
          <a:solidFill>
            <a:srgbClr val="365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648" y="16184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74151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417320"/>
            <a:ext cx="246888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417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 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3288" y="16184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74151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417320"/>
            <a:ext cx="2468880" cy="731520"/>
          </a:xfrm>
          <a:prstGeom prst="rect">
            <a:avLst/>
          </a:prstGeom>
          <a:solidFill>
            <a:srgbClr val="365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417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 Preprocess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7928" y="16184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74151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1417320"/>
            <a:ext cx="2468880" cy="731520"/>
          </a:xfrm>
          <a:prstGeom prst="rect">
            <a:avLst/>
          </a:prstGeom>
          <a:solidFill>
            <a:srgbClr val="764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1417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 Feature Eng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560320"/>
            <a:ext cx="2468880" cy="731520"/>
          </a:xfrm>
          <a:prstGeom prst="rect">
            <a:avLst/>
          </a:prstGeom>
          <a:solidFill>
            <a:srgbClr val="764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560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 EDA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27614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74151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2560320"/>
            <a:ext cx="2468880" cy="731520"/>
          </a:xfrm>
          <a:prstGeom prst="rect">
            <a:avLst/>
          </a:prstGeom>
          <a:solidFill>
            <a:srgbClr val="365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2560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 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33288" y="27614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74151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2560320"/>
            <a:ext cx="246888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2560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 Train Pneumo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67928" y="27614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74151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2560320"/>
            <a:ext cx="246888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0" y="2560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8 Train Brain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703320"/>
            <a:ext cx="246888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703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9 Evaluate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98648" y="3904487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74151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3703320"/>
            <a:ext cx="2468880" cy="731520"/>
          </a:xfrm>
          <a:prstGeom prst="rect">
            <a:avLst/>
          </a:prstGeom>
          <a:solidFill>
            <a:srgbClr val="764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6120" y="3703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 Optimize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33288" y="3904487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74151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3703320"/>
            <a:ext cx="2468880" cy="731520"/>
          </a:xfrm>
          <a:prstGeom prst="rect">
            <a:avLst/>
          </a:prstGeom>
          <a:solidFill>
            <a:srgbClr val="365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3703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11 Experiments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67928" y="3904487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74151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15400" y="3703320"/>
            <a:ext cx="246888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5400" y="3703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12 Monitor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846320"/>
            <a:ext cx="246888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4846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13 Health Chk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035040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74151"/>
                </a:solidFill>
              </a:rPr>
              <a:t>Airflow DAG chains all stages · dvc dag shows dependency graph · dvc repro runs end-to-end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989320"/>
            <a:ext cx="11548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016752"/>
            <a:ext cx="11457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✓  All 13 stages completed  ·  13,056 images processed  ·  ~45 min total runtime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5B4FC"/>
                </a:solidFill>
              </a:rPr>
              <a:t>ResNet-50 (ImageNet pretrained) — fine-tuned for medical imaging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6400800" cy="411480"/>
          </a:xfrm>
          <a:prstGeom prst="rect">
            <a:avLst/>
          </a:prstGeom>
          <a:solidFill>
            <a:srgbClr val="1E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441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3441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Test Acc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3441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3441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3441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755648"/>
            <a:ext cx="6400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82880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ResNet-50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182880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81.4% / 92.7%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82880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~5ms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82880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90MB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182880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✅ SELECTED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231136"/>
            <a:ext cx="640080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30428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ResNet-34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30428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~89%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30428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~4ms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30428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80MB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230428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Lower acc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706624"/>
            <a:ext cx="6400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779776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MobileNet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2779776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~87%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2779776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~2ms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2779776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14MB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2779776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5% gap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182112"/>
            <a:ext cx="640080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255264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EfficientNet B4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3255264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~94%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3255264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&gt;200ms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255264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75MB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3255264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Too slow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657600"/>
            <a:ext cx="6400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73075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ViT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373075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~93%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373075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~15ms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373075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330MB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373075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Too large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95160" y="1325880"/>
            <a:ext cx="4846320" cy="411480"/>
          </a:xfrm>
          <a:prstGeom prst="rect">
            <a:avLst/>
          </a:prstGeom>
          <a:solidFill>
            <a:srgbClr val="1E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0" y="13441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Training Configuration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95160" y="1755648"/>
            <a:ext cx="4846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0" y="18288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151"/>
                </a:solidFill>
              </a:rPr>
              <a:t>Optimizer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18288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654C8"/>
                </a:solidFill>
              </a:rPr>
              <a:t>Adam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95160" y="2231136"/>
            <a:ext cx="484632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0880" y="23042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151"/>
                </a:solidFill>
              </a:rPr>
              <a:t>Learning Rate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23042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654C8"/>
                </a:solidFill>
              </a:rPr>
              <a:t>1e-4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95160" y="2706624"/>
            <a:ext cx="4846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40880" y="27797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151"/>
                </a:solidFill>
              </a:rPr>
              <a:t>Epochs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277977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654C8"/>
                </a:solidFill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95160" y="3182112"/>
            <a:ext cx="484632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40880" y="325526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151"/>
                </a:solidFill>
              </a:rPr>
              <a:t>Batch Size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325526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654C8"/>
                </a:solidFill>
              </a:rPr>
              <a:t>32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95160" y="3657600"/>
            <a:ext cx="4846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40880" y="37307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151"/>
                </a:solidFill>
              </a:rPr>
              <a:t>Loss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37307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654C8"/>
                </a:solidFill>
              </a:rPr>
              <a:t>CrossEntropyLoss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95160" y="4133087"/>
            <a:ext cx="484632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40880" y="42062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151"/>
                </a:solidFill>
              </a:rPr>
              <a:t>Device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80" y="42062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654C8"/>
                </a:solidFill>
              </a:rPr>
              <a:t>MPS (Apple M-series)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95160" y="4608576"/>
            <a:ext cx="4846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40880" y="468172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151"/>
                </a:solidFill>
              </a:rPr>
              <a:t>Pretrained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26880" y="46817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654C8"/>
                </a:solidFill>
              </a:rPr>
              <a:t>ImageNet weights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5B4FC"/>
                </a:solidFill>
              </a:rPr>
              <a:t>Trained on MPS (Apple Silicon) · 5 epochs · ResNet-50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560320" cy="1188720"/>
          </a:xfrm>
          <a:prstGeom prst="rect">
            <a:avLst/>
          </a:prstGeom>
          <a:solidFill>
            <a:srgbClr val="365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3619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81.4%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7627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4C6FF"/>
                </a:solidFill>
              </a:rPr>
              <a:t>Pneumonia
Test 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463040"/>
            <a:ext cx="2560320" cy="1188720"/>
          </a:xfrm>
          <a:prstGeom prst="rect">
            <a:avLst/>
          </a:prstGeom>
          <a:solidFill>
            <a:srgbClr val="764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53619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92.7%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17627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4C6FF"/>
                </a:solidFill>
              </a:rPr>
              <a:t>Brain Tumor
Test 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463040"/>
            <a:ext cx="2560320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79" y="153619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0.925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217627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4C6FF"/>
                </a:solidFill>
              </a:rPr>
              <a:t>Brain Tumor
F1 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463040"/>
            <a:ext cx="256032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19" y="153619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~5ms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217627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4C6FF"/>
                </a:solidFill>
              </a:rPr>
              <a:t>Inference
Latency (CPU)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394960" cy="411480"/>
          </a:xfrm>
          <a:prstGeom prst="rect">
            <a:avLst/>
          </a:prstGeom>
          <a:solidFill>
            <a:srgbClr val="1E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9443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Pneumonia — Validation per Epoch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55848"/>
            <a:ext cx="53949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4290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Epoch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4290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Acc 0.9375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4290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F1 0.9373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803904"/>
            <a:ext cx="5394960" cy="43891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87705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Epoch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387705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Acc 0.5625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87705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F1 0.4589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251960"/>
            <a:ext cx="53949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32511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Epoch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432511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Acc 0.6250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32511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F1 0.5636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700016"/>
            <a:ext cx="5394960" cy="43891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77316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Epoch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477316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Acc 1.0000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477316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F1 1.0000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148072"/>
            <a:ext cx="53949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22122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Epoch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522122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Acc 1.0000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522122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F1 1.0000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2926080"/>
            <a:ext cx="5394960" cy="411480"/>
          </a:xfrm>
          <a:prstGeom prst="rect">
            <a:avLst/>
          </a:prstGeom>
          <a:solidFill>
            <a:srgbClr val="1E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9443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Brain Tumor — Validation per Epoch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3355848"/>
            <a:ext cx="53949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34290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Epoch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34290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Acc 0.9268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34290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F1 0.9267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3803904"/>
            <a:ext cx="5394960" cy="43891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387705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4ABC"/>
                </a:solidFill>
              </a:rPr>
              <a:t>Epoch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387705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4ABC"/>
                </a:solidFill>
              </a:rPr>
              <a:t>Acc 0.9625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0" y="387705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4ABC"/>
                </a:solidFill>
              </a:rPr>
              <a:t>F1 0.9626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4251960"/>
            <a:ext cx="53949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432511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4ABC"/>
                </a:solidFill>
              </a:rPr>
              <a:t>Epoch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0" y="432511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4ABC"/>
                </a:solidFill>
              </a:rPr>
              <a:t>Acc 0.9643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84080" y="432511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4ABC"/>
                </a:solidFill>
              </a:rPr>
              <a:t>F1 0.9643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4700016"/>
            <a:ext cx="5394960" cy="43891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0" y="477316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4ABC"/>
                </a:solidFill>
              </a:rPr>
              <a:t>Epoch 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46720" y="477316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4ABC"/>
                </a:solidFill>
              </a:rPr>
              <a:t>Acc 0.9688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77316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4ABC"/>
                </a:solidFill>
              </a:rPr>
              <a:t>F1 0.9689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63640" y="5148072"/>
            <a:ext cx="53949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9360" y="522122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4ABC"/>
                </a:solidFill>
              </a:rPr>
              <a:t>Epoch 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46720" y="522122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4ABC"/>
                </a:solidFill>
              </a:rPr>
              <a:t>Acc 0.9688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522122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64ABC"/>
                </a:solidFill>
              </a:rPr>
              <a:t>F1 0.9686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MLOps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5B4FC"/>
                </a:solidFill>
              </a:rPr>
              <a:t>Full lifecycle: versioning · tracking · monitoring · retraining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486400" cy="502920"/>
          </a:xfrm>
          <a:prstGeom prst="rect">
            <a:avLst/>
          </a:prstGeom>
          <a:solidFill>
            <a:srgbClr val="365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DVC  —  Pipeline + Data Versioning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54864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13-stage pipeline in dvc.yaml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MD5 checksums in dvc.lock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dvc dag · dvc repro · dvc status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Data, splits &amp; models versioned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486400" cy="502920"/>
          </a:xfrm>
          <a:prstGeom prst="rect">
            <a:avLst/>
          </a:prstGeom>
          <a:solidFill>
            <a:srgbClr val="764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356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MLflow  —  Experiment Tracking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874519"/>
            <a:ext cx="54864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3 experiments tracked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Params: LR, optimizer, epochs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Metrics: acc, F1, loss per epoch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Artifacts: reports, confusion matrix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Model registry: 2 models in Staging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86200"/>
            <a:ext cx="548640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502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Prometheus
+ Grafana  —  Observability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389120"/>
            <a:ext cx="54864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43484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Metrics: requests, latency, errors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Histogram: p50/p95/p99 latency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Auto-provisioned Grafana dashboard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Alert rules in alert_rules.yml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886200"/>
            <a:ext cx="548640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9502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Airflow  —  Orchestration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389120"/>
            <a:ext cx="54864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43484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DAG: medical_imaging_pipeline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All 13 DVC stages wired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Retry logic + web UI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Accessible at :8080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Containerization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5B4FC"/>
                </a:solidFill>
              </a:rPr>
              <a:t>Self-contained Docker image · models baked in · no retraining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303520" cy="457200"/>
          </a:xfrm>
          <a:prstGeom prst="rect">
            <a:avLst/>
          </a:prstGeom>
          <a:solidFill>
            <a:srgbClr val="1E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898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Docker Image — medical-imaging:latest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47088"/>
            <a:ext cx="5303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151"/>
                </a:solidFill>
              </a:rPr>
              <a:t>Base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8" y="19202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654C8"/>
                </a:solidFill>
              </a:rPr>
              <a:t>python:3.11-slim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322576"/>
            <a:ext cx="530352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957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151"/>
                </a:solidFill>
              </a:rPr>
              <a:t>Total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239572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654C8"/>
                </a:solidFill>
              </a:rPr>
              <a:t>2.41 GB (PyTorch CPU + 2×90MB models)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798064"/>
            <a:ext cx="5303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8712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151"/>
                </a:solidFill>
              </a:rPr>
              <a:t>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28712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✓ Baked in at build time (COPY *.pt)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273552"/>
            <a:ext cx="530352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3467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151"/>
                </a:solidFill>
              </a:rPr>
              <a:t>Runtime 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2848" y="334670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654C8"/>
                </a:solidFill>
              </a:rPr>
              <a:t>Non-root appuser (uid 1000)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749039"/>
            <a:ext cx="5303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822191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151"/>
                </a:solidFill>
              </a:rPr>
              <a:t>Healthcheck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3822191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654C8"/>
                </a:solidFill>
              </a:rPr>
              <a:t>curl /healthz every 30s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224528"/>
            <a:ext cx="530352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2976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151"/>
                </a:solidFill>
              </a:rPr>
              <a:t>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12848" y="42976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654C8"/>
                </a:solidFill>
              </a:rPr>
              <a:t>8001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1371600"/>
            <a:ext cx="5806440" cy="457200"/>
          </a:xfrm>
          <a:prstGeom prst="rect">
            <a:avLst/>
          </a:prstGeom>
          <a:solidFill>
            <a:srgbClr val="1E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1389888"/>
            <a:ext cx="5715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Docker Compose Profiles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47088"/>
            <a:ext cx="58064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847088"/>
            <a:ext cx="109728" cy="7498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883664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6E"/>
                </a:solidFill>
              </a:rPr>
              <a:t>--profile inference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212848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API · Frontend · Prometheus · Grafana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670048"/>
            <a:ext cx="58064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670048"/>
            <a:ext cx="109728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2706624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6E"/>
                </a:solidFill>
              </a:rPr>
              <a:t>--profile training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035808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MLflow · PostgreSQL · Airflow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3493008"/>
            <a:ext cx="580644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3493008"/>
            <a:ext cx="109728" cy="749808"/>
          </a:xfrm>
          <a:prstGeom prst="rect">
            <a:avLst/>
          </a:prstGeom>
          <a:solidFill>
            <a:srgbClr val="764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3529584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6E"/>
                </a:solidFill>
              </a:rPr>
              <a:t>(no profile)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858768"/>
            <a:ext cx="5440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Everything — full stack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846320"/>
            <a:ext cx="11521440" cy="411480"/>
          </a:xfrm>
          <a:prstGeom prst="rect">
            <a:avLst/>
          </a:prstGeom>
          <a:solidFill>
            <a:srgbClr val="1E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8646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Service Endpoints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276088"/>
            <a:ext cx="2834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79" y="5330951"/>
            <a:ext cx="2697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654C8"/>
                </a:solidFill>
              </a:rPr>
              <a:t>Frontend: http://localhost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79" y="5513831"/>
            <a:ext cx="2697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Web UI — 4 tabs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5276088"/>
            <a:ext cx="283464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91840" y="5330951"/>
            <a:ext cx="2697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654C8"/>
                </a:solidFill>
              </a:rPr>
              <a:t>API: http://localhost:8001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5513831"/>
            <a:ext cx="2697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Inference REST API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59" y="5276088"/>
            <a:ext cx="2834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199" y="5330951"/>
            <a:ext cx="2697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654C8"/>
                </a:solidFill>
              </a:rPr>
              <a:t>API Docs: http://localhost:8001/docs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199" y="5513831"/>
            <a:ext cx="2697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Swagger UI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19" y="5276088"/>
            <a:ext cx="283464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52559" y="5330951"/>
            <a:ext cx="2697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654C8"/>
                </a:solidFill>
              </a:rPr>
              <a:t>MLflow: http://localhost:5000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59" y="5513831"/>
            <a:ext cx="2697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Experiment tracking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5779007"/>
            <a:ext cx="2834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79" y="5833871"/>
            <a:ext cx="2697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654C8"/>
                </a:solidFill>
              </a:rPr>
              <a:t>Prometheus: http://localhost:9090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79" y="6016751"/>
            <a:ext cx="2697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Metrics store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0" y="5779007"/>
            <a:ext cx="2834640" cy="4572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91840" y="5833871"/>
            <a:ext cx="2697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654C8"/>
                </a:solidFill>
              </a:rPr>
              <a:t>Grafana: http://localhost:3001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91840" y="6016751"/>
            <a:ext cx="2697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Dashboards (admin/admin)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80759" y="5779007"/>
            <a:ext cx="28346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72199" y="5833871"/>
            <a:ext cx="2697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654C8"/>
                </a:solidFill>
              </a:rPr>
              <a:t>Airflow: http://localhost:8080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72199" y="6016751"/>
            <a:ext cx="2697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Pipeline orchestration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Frontend — Web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5B4FC"/>
                </a:solidFill>
              </a:rPr>
              <a:t>Single-page app · 4 tabs · live API connection · Nginx :80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2697480" cy="502920"/>
          </a:xfrm>
          <a:prstGeom prst="rect">
            <a:avLst/>
          </a:prstGeom>
          <a:solidFill>
            <a:srgbClr val="365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8988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🔮 Predict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269748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938528"/>
            <a:ext cx="254203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</a:rPr>
              <a:t>•  Model selector: Pneumonia vs Brain Tumor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</a:rPr>
              <a:t>•  File upload (JPEG/PNG/BMP/TIFF, max 10MB)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</a:rPr>
              <a:t>•  Real-time prediction with confidence %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</a:rPr>
              <a:t>•  Modality mismatch detection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</a:rPr>
              <a:t>•  Low-confidence warning (&lt; 70%)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</a:rPr>
              <a:t>•  Inference time displayed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371600"/>
            <a:ext cx="2697480" cy="502920"/>
          </a:xfrm>
          <a:prstGeom prst="rect">
            <a:avLst/>
          </a:prstGeom>
          <a:solidFill>
            <a:srgbClr val="764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38988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📊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874519"/>
            <a:ext cx="269748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938528"/>
            <a:ext cx="254203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</a:rPr>
              <a:t>•  13-stage DVC DAG visualization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</a:rPr>
              <a:t>•  Stage status: completed (green)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</a:rPr>
              <a:t>•  Real model metrics: 81.4% / 92.7%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</a:rPr>
              <a:t>•  Training configuration summary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</a:rPr>
              <a:t>•  Pipeline duration and run 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59" y="1371600"/>
            <a:ext cx="26974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59" y="138988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📈 Monitoring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59" y="1874519"/>
            <a:ext cx="269748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199" y="1938528"/>
            <a:ext cx="254203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</a:rPr>
              <a:t>•  Calls GET /health every 30 seconds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</a:rPr>
              <a:t>•  Live: API status, models loaded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</a:rPr>
              <a:t>•  Live: total requests, avg latency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</a:rPr>
              <a:t>•  Live: error rate, CPU/memory/disk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</a:rPr>
              <a:t>•  Auto-refresh + manual Refresh button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</a:rPr>
              <a:t>•  Alert banner on API unreachable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19" y="1371600"/>
            <a:ext cx="269748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19" y="138988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📚 User Manual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19" y="1874519"/>
            <a:ext cx="269748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59" y="1938528"/>
            <a:ext cx="2542032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</a:rPr>
              <a:t>•  Step-by-step usage guide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</a:rPr>
              <a:t>•  Understanding predictions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</a:rPr>
              <a:t>•  FAQ for non-technical users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</a:rPr>
              <a:t>•  Technical details &amp; API example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374151"/>
                </a:solidFill>
              </a:rPr>
              <a:t>•  Best practices for image upload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5B4FC"/>
                </a:solidFill>
              </a:rPr>
              <a:t>34 / 34 unit tests passed · pytest 9.0.3 · Python 3.13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029200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173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34 / 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560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TESTS PASSED  ·  100%  ·  17 seconds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371600"/>
            <a:ext cx="2011680" cy="457200"/>
          </a:xfrm>
          <a:prstGeom prst="rect">
            <a:avLst/>
          </a:prstGeom>
          <a:solidFill>
            <a:srgbClr val="365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41732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16 tests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1828800"/>
            <a:ext cx="2011680" cy="365760"/>
          </a:xfrm>
          <a:prstGeom prst="rect">
            <a:avLst/>
          </a:prstGeom>
          <a:solidFill>
            <a:srgbClr val="1E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84708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API Endpoints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194560"/>
            <a:ext cx="20116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42432" y="22311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64ABC"/>
                </a:solidFill>
              </a:rPr>
              <a:t>test_api.py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2432" y="246888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All HTTP status codes
• Field presence
• Confidence range
• 422 for invalid input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1371600"/>
            <a:ext cx="2011680" cy="457200"/>
          </a:xfrm>
          <a:prstGeom prst="rect">
            <a:avLst/>
          </a:prstGeom>
          <a:solidFill>
            <a:srgbClr val="365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41732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 tests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1828800"/>
            <a:ext cx="2011680" cy="365760"/>
          </a:xfrm>
          <a:prstGeom prst="rect">
            <a:avLst/>
          </a:prstGeom>
          <a:solidFill>
            <a:srgbClr val="1E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184708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Data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8120" y="2194560"/>
            <a:ext cx="20116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1272" y="22311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64ABC"/>
                </a:solidFill>
              </a:rPr>
              <a:t>test_data.py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2" y="246888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Validation on empty dirs
• Preprocessing resize 224×224
• Corrupt file handling
• EDA report generation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60" y="1371600"/>
            <a:ext cx="2011680" cy="457200"/>
          </a:xfrm>
          <a:prstGeom prst="rect">
            <a:avLst/>
          </a:prstGeom>
          <a:solidFill>
            <a:srgbClr val="365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141732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11 tests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0" y="1828800"/>
            <a:ext cx="2011680" cy="365760"/>
          </a:xfrm>
          <a:prstGeom prst="rect">
            <a:avLst/>
          </a:prstGeom>
          <a:solidFill>
            <a:srgbClr val="1E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0" y="184708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Inference &amp; Models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0" y="2194560"/>
            <a:ext cx="20116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40112" y="22311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64ABC"/>
                </a:solidFill>
              </a:rPr>
              <a:t>test_inference.py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40112" y="246888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Model load 2-class/4-class
• Eval mode verification
• Modality detection
• predict() with/without model
• Health check report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383280"/>
            <a:ext cx="11521440" cy="411480"/>
          </a:xfrm>
          <a:prstGeom prst="rect">
            <a:avLst/>
          </a:prstGeom>
          <a:solidFill>
            <a:srgbClr val="1E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4015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Acceptance Criteria — All Met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858768"/>
            <a:ext cx="374903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3950207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✓  100% unit test pass 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3858768"/>
            <a:ext cx="374903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51959" y="3950207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✓  Inference latency &lt; 200ms  (actual: ~70ms)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0" y="3858768"/>
            <a:ext cx="374903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2440" y="3950207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✓  Model size &lt; 100 MB  (actual: 90 MB)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517136"/>
            <a:ext cx="374903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79" y="4608575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✓  All 13 DVC stages complete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0520" y="4517136"/>
            <a:ext cx="374903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51959" y="4608575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✓  Invalid input → 422 (not 500)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01000" y="4517136"/>
            <a:ext cx="3749039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4608575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✓  Docker build + smoke test pass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Monitoring &amp;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5B4FC"/>
                </a:solidFill>
              </a:rPr>
              <a:t>Prometheus · Grafana · Drift Detection · Health Checks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577840" cy="475488"/>
          </a:xfrm>
          <a:prstGeom prst="rect">
            <a:avLst/>
          </a:prstGeom>
          <a:solidFill>
            <a:srgbClr val="365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356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Prometheus Metrics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47088"/>
            <a:ext cx="557784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01952"/>
            <a:ext cx="53492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Scrapes /metrics every 15s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http_requests_total (endpoint, method, status)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http_request_duration_seconds (histogram)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Alert rules: API down, latency &gt; 200ms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577840" cy="475488"/>
          </a:xfrm>
          <a:prstGeom prst="rect">
            <a:avLst/>
          </a:prstGeom>
          <a:solidFill>
            <a:srgbClr val="764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14356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Grafana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47088"/>
            <a:ext cx="557784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01952"/>
            <a:ext cx="53492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Auto-provisioned via grafana/provisioning/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No manual setup needed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Panels: predictions, latency p50/p95/p99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Request rate by endpoint (timeseries)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Success rate gauge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886200"/>
            <a:ext cx="557784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39502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Drift Detection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361688"/>
            <a:ext cx="557784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416552"/>
            <a:ext cx="53492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L1 label distribution distance (threshold 0.15)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Feature mean shift (threshold 0.05)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Feature variance shift (threshold 0.25)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Accuracy drop vs baseline (threshold 3%)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886200"/>
            <a:ext cx="557784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39502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Health Checks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361688"/>
            <a:ext cx="557784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416552"/>
            <a:ext cx="53492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3 levels: /healthz · /readyz · health_check.py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Checks: models loadable + inference OK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System: CPU, memory, disk thresholds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Pipeline artifacts presence check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Auto-retraining on drift / perf drop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5B4FC"/>
                </a:solidFill>
              </a:rPr>
              <a:t>Design principles · Exception handling · Logging · CI/CD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577840" cy="411480"/>
          </a:xfrm>
          <a:prstGeom prst="rect">
            <a:avLst/>
          </a:prstGeom>
          <a:solidFill>
            <a:srgbClr val="1E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898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Design &amp; Implementation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01368"/>
            <a:ext cx="55778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37943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6E"/>
                </a:solidFill>
              </a:rPr>
              <a:t>Architecture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756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docs/ARCHITECTURE.md — Mermaid block diagram, 7 layers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404872"/>
            <a:ext cx="5577840" cy="5760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44144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6E"/>
                </a:solidFill>
              </a:rPr>
              <a:t>HLD Document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7919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docs/HLD.md — design goals, tech choices, data flow, deployment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008376"/>
            <a:ext cx="55778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04495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6E"/>
                </a:solidFill>
              </a:rPr>
              <a:t>LLD Document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28269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docs/LLD.md — 8 endpoints, request/response schemas, error codes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611880"/>
            <a:ext cx="5577840" cy="5760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648456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6E"/>
                </a:solidFill>
              </a:rPr>
              <a:t>Loose Coupling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8862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Frontend ↔ Backend via REST only — API_URL is the single contract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215384"/>
            <a:ext cx="55778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25196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6E"/>
                </a:solidFill>
              </a:rPr>
              <a:t>Structured Logging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48970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Per-request INFO/WARNING/ERROR in FastAPI, full traceback on exception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818888"/>
            <a:ext cx="5577840" cy="5760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85546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6E"/>
                </a:solidFill>
              </a:rPr>
              <a:t>Exception Handling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09320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ValueError → 422, RuntimeError → 503, generic Exception → 500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422392"/>
            <a:ext cx="55778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45896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6E"/>
                </a:solidFill>
              </a:rPr>
              <a:t>Non-root Docker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6967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Container runs as appuser uid 1000 — security best practice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1371600"/>
            <a:ext cx="5577840" cy="411480"/>
          </a:xfrm>
          <a:prstGeom prst="rect">
            <a:avLst/>
          </a:prstGeom>
          <a:solidFill>
            <a:srgbClr val="1E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38988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Documentation &amp; Process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1801368"/>
            <a:ext cx="55778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1837943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6E"/>
                </a:solidFill>
              </a:rPr>
              <a:t>GitHub Actions CI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0756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Syntax check 20 modules · DVC validate · Docker build on push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2404872"/>
            <a:ext cx="5577840" cy="5760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244144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6E"/>
                </a:solidFill>
              </a:rPr>
              <a:t>MLproject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67919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6 entry points: train, evaluate, monitor, health_check, full_pipeline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3008376"/>
            <a:ext cx="55778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3044952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6E"/>
                </a:solidFill>
              </a:rPr>
              <a:t>User Manual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328269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docs/USER_MANUAL.md + in-app tab — for non-technical users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611880"/>
            <a:ext cx="5577840" cy="5760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3648456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6E"/>
                </a:solidFill>
              </a:rPr>
              <a:t>CONTRIBUTING.md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38862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Branch strategy, commit conventions, PR process, test commands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4215384"/>
            <a:ext cx="55778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425196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6E"/>
                </a:solidFill>
              </a:rPr>
              <a:t>RELEASE_CHECKLIST.md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448970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Pre-release quality gates + rollback procedure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4818888"/>
            <a:ext cx="5577840" cy="57607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485546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6E"/>
                </a:solidFill>
              </a:rPr>
              <a:t>DATA_SOURCES_AND_BIAS.md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509320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Provenance, bias analysis, mitigation strategies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5422392"/>
            <a:ext cx="55778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545896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A6E"/>
                </a:solidFill>
              </a:rPr>
              <a:t>Reproducibility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56967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Fixed seed=42, git commit in every MLflow run, DVC checksums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121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764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Project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474720" cy="457200"/>
          </a:xfrm>
          <a:prstGeom prst="rect">
            <a:avLst/>
          </a:prstGeom>
          <a:solidFill>
            <a:srgbClr val="365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🎯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3474720" cy="1664208"/>
          </a:xfrm>
          <a:prstGeom prst="rect">
            <a:avLst/>
          </a:prstGeom>
          <a:solidFill>
            <a:srgbClr val="1E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347472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7D2FE"/>
                </a:solidFill>
              </a:rPr>
              <a:t>Pneumonia detection
Brain tumor 4-class
clinical screening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1417320"/>
            <a:ext cx="3474720" cy="457200"/>
          </a:xfrm>
          <a:prstGeom prst="rect">
            <a:avLst/>
          </a:prstGeom>
          <a:solidFill>
            <a:srgbClr val="764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24528" y="14630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🏗️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1874519"/>
            <a:ext cx="3474720" cy="1664208"/>
          </a:xfrm>
          <a:prstGeom prst="rect">
            <a:avLst/>
          </a:prstGeom>
          <a:solidFill>
            <a:srgbClr val="1E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4528" y="1920240"/>
            <a:ext cx="347472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7D2FE"/>
                </a:solidFill>
              </a:rPr>
              <a:t>7-layer system
REST-decoupled
Docker profiles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1856" y="1417320"/>
            <a:ext cx="3474720" cy="457200"/>
          </a:xfrm>
          <a:prstGeom prst="rect">
            <a:avLst/>
          </a:prstGeom>
          <a:solidFill>
            <a:srgbClr val="0E7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1856" y="14630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🤖 Models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1856" y="1874519"/>
            <a:ext cx="3474720" cy="1664208"/>
          </a:xfrm>
          <a:prstGeom prst="rect">
            <a:avLst/>
          </a:prstGeom>
          <a:solidFill>
            <a:srgbClr val="1E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1856" y="1920240"/>
            <a:ext cx="347472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7D2FE"/>
                </a:solidFill>
              </a:rPr>
              <a:t>ResNet-50 pretrained
81.4% / 92.7% acc
~5ms inference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0168"/>
            <a:ext cx="3474720" cy="45720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675887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📊 MLOps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87368"/>
            <a:ext cx="3474720" cy="1664208"/>
          </a:xfrm>
          <a:prstGeom prst="rect">
            <a:avLst/>
          </a:prstGeom>
          <a:solidFill>
            <a:srgbClr val="1E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33087"/>
            <a:ext cx="347472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7D2FE"/>
                </a:solidFill>
              </a:rPr>
              <a:t>DVC · MLflow · Airflow
Prometheus · Grafana
13-stage pipeline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24528" y="3630168"/>
            <a:ext cx="347472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24528" y="3675887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🐳 Deploy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4528" y="4087368"/>
            <a:ext cx="3474720" cy="1664208"/>
          </a:xfrm>
          <a:prstGeom prst="rect">
            <a:avLst/>
          </a:prstGeom>
          <a:solidFill>
            <a:srgbClr val="1E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24528" y="4133087"/>
            <a:ext cx="347472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7D2FE"/>
                </a:solidFill>
              </a:rPr>
              <a:t>Models baked in
docker compose
2.41GB image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91856" y="3630168"/>
            <a:ext cx="347472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3675887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✅ Testing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91856" y="4087368"/>
            <a:ext cx="3474720" cy="1664208"/>
          </a:xfrm>
          <a:prstGeom prst="rect">
            <a:avLst/>
          </a:prstGeom>
          <a:solidFill>
            <a:srgbClr val="1E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1856" y="4133087"/>
            <a:ext cx="347472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7D2FE"/>
                </a:solidFill>
              </a:rPr>
              <a:t>34 / 34 passed
100% pass rate
17 sec runtime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035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AAA"/>
                </a:solidFill>
              </a:rPr>
              <a:t>DA5402  ·  Medical Image Classification MLOps  ·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